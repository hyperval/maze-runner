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AKHIL — 20 seconds. Open here. 'Good morning. We're presenting problem statement 15 - a maze game where the enemy chases the player using pathfinding. I'm Akhil, and this is Akshay, Abdullah and Christen.' Then hand to Akshay. Do NOT read the three cards out; the examiners can see them. The demo is where the marks are.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AKSHAY — 60 to 75 seconds. This is the slide that earns Technical Implementation marks; take your time. Point at the purple region: 175 cells, BFS spreading in all directions because it has no idea where the player is. Then orange: 100 cells, A* leaning toward the player. Both found a path of the SAME length. TRAP QUESTION - 'so A* is better?' Do NOT say yes. Answer: it expands fewer cells but ran SLOWER in wall-clock time, heap at O(log n) versus deque at O(1); at our maze size the per-cell overhead outweighs the cells saved. Christen's slide has the data.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AKHIL presents the top half (this is your work), ABDULLAH the bottom strip. AKHIL - 45 seconds: the maze is carved at runtime by a recursive backtracker, which is depth-first search used to dig instead of to search. Key detail: carving TWO cells at a time, so walls land on even coordinates and stay one cell thick - one at a time and the grid dissolves into an open room. Then braiding: a finished maze is 'perfect', one route between any two cells, so it is all dead ends and the player gets cornered, so we reopen 35 percent. Mention the measured side effect: that also widened A*'s advantage from 11 to 26 percent. You can run visualise_maze.py live if they want to watch it carve. ABDULLAH - 15 seconds on the three boxes; the point is the right-hand one, that tooling is ours, written to check our own work.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CHRISTEN — 75 to 90 seconds. The team's strongest slide; take your time. Start with the exit-camping bug, it's concrete and instantly understandable. Then the balance finding, and stress that a TOOL WE WROTE found it, not playtesting. Save the blue box for last and deliver it slowly - A* expanded fewer cells but ran slower, and here is why. Pause after it and let it land. If asked 'so which is better': depends on map size and what visiting a cell costs.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AKHIL — 40 seconds. Pick ONE item, don't read all four. Best is the predictive enemy, because it names a real limitation: the enemy always trails, it never intercepts. 'With more time we'd have it path to where you're heading, so it could cut you off at a junction. That's a different problem - you have to predict intent, not just compute a route.' Then close cleanly and STOP: 'That's our project. Code and documentation are on GitHub.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218"/>
        </a:solidFill>
        <a:effectLst/>
      </p:bgPr>
    </p:bg>
    <p:spTree>
      <p:nvGrpSpPr>
        <p:cNvPr id="1" name=""/>
        <p:cNvGrpSpPr/>
        <p:nvPr/>
      </p:nvGrpSpPr>
      <p:grpSpPr/>
      <p:sp>
        <p:nvSpPr>
          <p:cNvPr id="2" name="TextBox 1"/>
          <p:cNvSpPr txBox="1"/>
          <p:nvPr/>
        </p:nvSpPr>
        <p:spPr>
          <a:xfrm>
            <a:off x="777240" y="1051560"/>
            <a:ext cx="10637215" cy="2743200"/>
          </a:xfrm>
          <a:prstGeom prst="rect">
            <a:avLst/>
          </a:prstGeom>
          <a:noFill/>
        </p:spPr>
        <p:txBody>
          <a:bodyPr wrap="square" lIns="0" rIns="0" tIns="0" bIns="0">
            <a:spAutoFit/>
          </a:bodyPr>
          <a:lstStyle/>
          <a:p>
            <a:pPr>
              <a:spcAft>
                <a:spcPts val="1200"/>
              </a:spcAft>
              <a:defRPr sz="1400" b="0">
                <a:solidFill>
                  <a:srgbClr val="56CCF2"/>
                </a:solidFill>
                <a:latin typeface="Consolas"/>
              </a:defRPr>
            </a:pPr>
            <a:r>
              <a:t>PROBLEM STATEMENT 15</a:t>
            </a:r>
          </a:p>
          <a:p>
            <a:pPr>
              <a:spcAft>
                <a:spcPts val="1000"/>
              </a:spcAft>
              <a:defRPr sz="6600" b="1">
                <a:solidFill>
                  <a:srgbClr val="F2F2F7"/>
                </a:solidFill>
                <a:latin typeface="Segoe UI"/>
              </a:defRPr>
            </a:pPr>
            <a:r>
              <a:t>Maze Runner</a:t>
            </a:r>
          </a:p>
          <a:p>
            <a:pPr>
              <a:lnSpc>
                <a:spcPct val="125000"/>
              </a:lnSpc>
              <a:spcAft>
                <a:spcPts val="0"/>
              </a:spcAft>
              <a:defRPr sz="2200" b="0">
                <a:solidFill>
                  <a:srgbClr val="9BA3B4"/>
                </a:solidFill>
                <a:latin typeface="Segoe UI"/>
              </a:defRPr>
            </a:pPr>
            <a:r>
              <a:t>A maze game where the enemy hunts you with real pathfinding — BFS and A*</a:t>
            </a:r>
          </a:p>
        </p:txBody>
      </p:sp>
      <p:sp>
        <p:nvSpPr>
          <p:cNvPr id="3" name="Rounded Rectangle 2"/>
          <p:cNvSpPr/>
          <p:nvPr/>
        </p:nvSpPr>
        <p:spPr>
          <a:xfrm>
            <a:off x="777240" y="4069080"/>
            <a:ext cx="3393338" cy="1783080"/>
          </a:xfrm>
          <a:prstGeom prst="roundRect">
            <a:avLst>
              <a:gd name="adj" fmla="val 6000"/>
            </a:avLst>
          </a:prstGeom>
          <a:solidFill>
            <a:srgbClr val="1B1B24"/>
          </a:solidFill>
          <a:ln w="12700">
            <a:solidFill>
              <a:srgbClr val="2E2E3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51560" y="4297680"/>
            <a:ext cx="2844698" cy="1371600"/>
          </a:xfrm>
          <a:prstGeom prst="rect">
            <a:avLst/>
          </a:prstGeom>
          <a:noFill/>
        </p:spPr>
        <p:txBody>
          <a:bodyPr wrap="square" lIns="0" rIns="0" tIns="0" bIns="0">
            <a:spAutoFit/>
          </a:bodyPr>
          <a:lstStyle/>
          <a:p>
            <a:pPr>
              <a:spcAft>
                <a:spcPts val="700"/>
              </a:spcAft>
              <a:defRPr sz="1200" b="0">
                <a:solidFill>
                  <a:srgbClr val="7C65D6"/>
                </a:solidFill>
                <a:latin typeface="Consolas"/>
              </a:defRPr>
            </a:pPr>
            <a:r>
              <a:t>TEAM</a:t>
            </a:r>
          </a:p>
          <a:p>
            <a:pPr>
              <a:lnSpc>
                <a:spcPct val="130000"/>
              </a:lnSpc>
              <a:spcAft>
                <a:spcPts val="0"/>
              </a:spcAft>
              <a:defRPr sz="1350" b="0">
                <a:solidFill>
                  <a:srgbClr val="F2F2F7"/>
                </a:solidFill>
                <a:latin typeface="Segoe UI"/>
              </a:defRPr>
            </a:pPr>
            <a:r>
              <a:t>Akhil Sathish Kumar</a:t>
            </a:r>
          </a:p>
          <a:p>
            <a:pPr>
              <a:lnSpc>
                <a:spcPct val="130000"/>
              </a:lnSpc>
              <a:spcAft>
                <a:spcPts val="0"/>
              </a:spcAft>
              <a:defRPr sz="1350" b="0">
                <a:solidFill>
                  <a:srgbClr val="F2F2F7"/>
                </a:solidFill>
                <a:latin typeface="Segoe UI"/>
              </a:defRPr>
            </a:pPr>
            <a:r>
              <a:t>Akshay N</a:t>
            </a:r>
          </a:p>
          <a:p>
            <a:pPr>
              <a:lnSpc>
                <a:spcPct val="130000"/>
              </a:lnSpc>
              <a:spcAft>
                <a:spcPts val="0"/>
              </a:spcAft>
              <a:defRPr sz="1350" b="0">
                <a:solidFill>
                  <a:srgbClr val="F2F2F7"/>
                </a:solidFill>
                <a:latin typeface="Segoe UI"/>
              </a:defRPr>
            </a:pPr>
            <a:r>
              <a:t>Abdullah Subhaan K</a:t>
            </a:r>
          </a:p>
          <a:p>
            <a:pPr>
              <a:lnSpc>
                <a:spcPct val="130000"/>
              </a:lnSpc>
              <a:spcAft>
                <a:spcPts val="0"/>
              </a:spcAft>
              <a:defRPr sz="1350" b="0">
                <a:solidFill>
                  <a:srgbClr val="F2F2F7"/>
                </a:solidFill>
                <a:latin typeface="Segoe UI"/>
              </a:defRPr>
            </a:pPr>
            <a:r>
              <a:t>Christen Mendis</a:t>
            </a:r>
          </a:p>
        </p:txBody>
      </p:sp>
      <p:sp>
        <p:nvSpPr>
          <p:cNvPr id="5" name="Rounded Rectangle 4"/>
          <p:cNvSpPr/>
          <p:nvPr/>
        </p:nvSpPr>
        <p:spPr>
          <a:xfrm>
            <a:off x="4399178" y="4069080"/>
            <a:ext cx="3393338" cy="1783080"/>
          </a:xfrm>
          <a:prstGeom prst="roundRect">
            <a:avLst>
              <a:gd name="adj" fmla="val 6000"/>
            </a:avLst>
          </a:prstGeom>
          <a:solidFill>
            <a:srgbClr val="1B1B24"/>
          </a:solidFill>
          <a:ln w="12700">
            <a:solidFill>
              <a:srgbClr val="2E2E3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673498" y="4297680"/>
            <a:ext cx="2844698" cy="1371600"/>
          </a:xfrm>
          <a:prstGeom prst="rect">
            <a:avLst/>
          </a:prstGeom>
          <a:noFill/>
        </p:spPr>
        <p:txBody>
          <a:bodyPr wrap="square" lIns="0" rIns="0" tIns="0" bIns="0">
            <a:spAutoFit/>
          </a:bodyPr>
          <a:lstStyle/>
          <a:p>
            <a:pPr>
              <a:spcAft>
                <a:spcPts val="700"/>
              </a:spcAft>
              <a:defRPr sz="1200" b="0">
                <a:solidFill>
                  <a:srgbClr val="7C65D6"/>
                </a:solidFill>
                <a:latin typeface="Consolas"/>
              </a:defRPr>
            </a:pPr>
            <a:r>
              <a:t>BUILT WITH</a:t>
            </a:r>
          </a:p>
          <a:p>
            <a:pPr>
              <a:lnSpc>
                <a:spcPct val="130000"/>
              </a:lnSpc>
              <a:spcAft>
                <a:spcPts val="0"/>
              </a:spcAft>
              <a:defRPr sz="1350" b="0">
                <a:solidFill>
                  <a:srgbClr val="F2F2F7"/>
                </a:solidFill>
                <a:latin typeface="Segoe UI"/>
              </a:defRPr>
            </a:pPr>
            <a:r>
              <a:t>Python 3 + pygame-ce</a:t>
            </a:r>
          </a:p>
          <a:p>
            <a:pPr>
              <a:lnSpc>
                <a:spcPct val="130000"/>
              </a:lnSpc>
              <a:spcAft>
                <a:spcPts val="0"/>
              </a:spcAft>
              <a:defRPr sz="1350" b="0">
                <a:solidFill>
                  <a:srgbClr val="F2F2F7"/>
                </a:solidFill>
                <a:latin typeface="Segoe UI"/>
              </a:defRPr>
            </a:pPr>
            <a:r>
              <a:t>No dataset, no network,</a:t>
            </a:r>
          </a:p>
          <a:p>
            <a:pPr>
              <a:lnSpc>
                <a:spcPct val="130000"/>
              </a:lnSpc>
              <a:spcAft>
                <a:spcPts val="0"/>
              </a:spcAft>
              <a:defRPr sz="1350" b="0">
                <a:solidFill>
                  <a:srgbClr val="F2F2F7"/>
                </a:solidFill>
                <a:latin typeface="Segoe UI"/>
              </a:defRPr>
            </a:pPr>
            <a:r>
              <a:t>no hardware</a:t>
            </a:r>
          </a:p>
        </p:txBody>
      </p:sp>
      <p:sp>
        <p:nvSpPr>
          <p:cNvPr id="7" name="Rounded Rectangle 6"/>
          <p:cNvSpPr/>
          <p:nvPr/>
        </p:nvSpPr>
        <p:spPr>
          <a:xfrm>
            <a:off x="8021116" y="4069080"/>
            <a:ext cx="3393338" cy="1783080"/>
          </a:xfrm>
          <a:prstGeom prst="roundRect">
            <a:avLst>
              <a:gd name="adj" fmla="val 6000"/>
            </a:avLst>
          </a:prstGeom>
          <a:solidFill>
            <a:srgbClr val="1B1B24"/>
          </a:solidFill>
          <a:ln w="12700">
            <a:solidFill>
              <a:srgbClr val="2E2E3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295436" y="4297680"/>
            <a:ext cx="2844698" cy="1371600"/>
          </a:xfrm>
          <a:prstGeom prst="rect">
            <a:avLst/>
          </a:prstGeom>
          <a:noFill/>
        </p:spPr>
        <p:txBody>
          <a:bodyPr wrap="square" lIns="0" rIns="0" tIns="0" bIns="0">
            <a:spAutoFit/>
          </a:bodyPr>
          <a:lstStyle/>
          <a:p>
            <a:pPr>
              <a:spcAft>
                <a:spcPts val="700"/>
              </a:spcAft>
              <a:defRPr sz="1200" b="0">
                <a:solidFill>
                  <a:srgbClr val="7C65D6"/>
                </a:solidFill>
                <a:latin typeface="Consolas"/>
              </a:defRPr>
            </a:pPr>
            <a:r>
              <a:t>SHIPPED</a:t>
            </a:r>
          </a:p>
          <a:p>
            <a:pPr>
              <a:lnSpc>
                <a:spcPct val="130000"/>
              </a:lnSpc>
              <a:spcAft>
                <a:spcPts val="0"/>
              </a:spcAft>
              <a:defRPr sz="1350" b="0">
                <a:solidFill>
                  <a:srgbClr val="F2F2F7"/>
                </a:solidFill>
                <a:latin typeface="Segoe UI"/>
              </a:defRPr>
            </a:pPr>
            <a:r>
              <a:t>226 tests passing</a:t>
            </a:r>
          </a:p>
          <a:p>
            <a:pPr>
              <a:lnSpc>
                <a:spcPct val="130000"/>
              </a:lnSpc>
              <a:spcAft>
                <a:spcPts val="0"/>
              </a:spcAft>
              <a:defRPr sz="1350" b="0">
                <a:solidFill>
                  <a:srgbClr val="F2F2F7"/>
                </a:solidFill>
                <a:latin typeface="Segoe UI"/>
              </a:defRPr>
            </a:pPr>
            <a:r>
              <a:t>500 bot playthroughs</a:t>
            </a:r>
          </a:p>
          <a:p>
            <a:pPr>
              <a:lnSpc>
                <a:spcPct val="130000"/>
              </a:lnSpc>
              <a:spcAft>
                <a:spcPts val="0"/>
              </a:spcAft>
              <a:defRPr sz="1350" b="0">
                <a:solidFill>
                  <a:srgbClr val="F2F2F7"/>
                </a:solidFill>
                <a:latin typeface="Segoe UI"/>
              </a:defRPr>
            </a:pPr>
            <a:r>
              <a:t>50-maze benchmark</a:t>
            </a:r>
          </a:p>
        </p:txBody>
      </p:sp>
      <p:sp>
        <p:nvSpPr>
          <p:cNvPr id="9" name="TextBox 8"/>
          <p:cNvSpPr txBox="1"/>
          <p:nvPr/>
        </p:nvSpPr>
        <p:spPr>
          <a:xfrm>
            <a:off x="777240" y="6172200"/>
            <a:ext cx="10637215" cy="365760"/>
          </a:xfrm>
          <a:prstGeom prst="rect">
            <a:avLst/>
          </a:prstGeom>
          <a:noFill/>
        </p:spPr>
        <p:txBody>
          <a:bodyPr wrap="square" lIns="0" rIns="0" tIns="0" bIns="0">
            <a:spAutoFit/>
          </a:bodyPr>
          <a:lstStyle/>
          <a:p>
            <a:pPr>
              <a:spcAft>
                <a:spcPts val="0"/>
              </a:spcAft>
              <a:defRPr sz="1100" b="0">
                <a:solidFill>
                  <a:srgbClr val="6A7179"/>
                </a:solidFill>
                <a:latin typeface="Consolas"/>
              </a:defRPr>
            </a:pPr>
            <a:r>
              <a:t>REVA University  ·  B25CS0311 Portfolio Building  ·  07/10/2026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1218"/>
        </a:solidFill>
        <a:effectLst/>
      </p:bgPr>
    </p:bg>
    <p:spTree>
      <p:nvGrpSpPr>
        <p:cNvPr id="1" name=""/>
        <p:cNvGrpSpPr/>
        <p:nvPr/>
      </p:nvGrpSpPr>
      <p:grpSpPr/>
      <p:sp>
        <p:nvSpPr>
          <p:cNvPr id="2" name="TextBox 1"/>
          <p:cNvSpPr txBox="1"/>
          <p:nvPr/>
        </p:nvSpPr>
        <p:spPr>
          <a:xfrm>
            <a:off x="777240" y="566928"/>
            <a:ext cx="10637215" cy="1371600"/>
          </a:xfrm>
          <a:prstGeom prst="rect">
            <a:avLst/>
          </a:prstGeom>
          <a:noFill/>
        </p:spPr>
        <p:txBody>
          <a:bodyPr wrap="square" lIns="0" rIns="0" tIns="0" bIns="0">
            <a:spAutoFit/>
          </a:bodyPr>
          <a:lstStyle/>
          <a:p>
            <a:pPr>
              <a:spcAft>
                <a:spcPts val="700"/>
              </a:spcAft>
              <a:defRPr sz="3800" b="1">
                <a:solidFill>
                  <a:srgbClr val="F2F2F7"/>
                </a:solidFill>
                <a:latin typeface="Segoe UI"/>
              </a:defRPr>
            </a:pPr>
            <a:r>
              <a:t>You can see the AI thinking</a:t>
            </a:r>
          </a:p>
          <a:p>
            <a:pPr>
              <a:lnSpc>
                <a:spcPct val="130000"/>
              </a:lnSpc>
              <a:spcAft>
                <a:spcPts val="0"/>
              </a:spcAft>
              <a:defRPr sz="1600" b="0">
                <a:solidFill>
                  <a:srgbClr val="9BA3B4"/>
                </a:solidFill>
                <a:latin typeface="Segoe UI"/>
              </a:defRPr>
            </a:pPr>
            <a:r>
              <a:t>Both enemies search the maze every step. We draw the cells each one expanded, so the difference is one picture, not a claim.</a:t>
            </a:r>
          </a:p>
        </p:txBody>
      </p:sp>
      <p:pic>
        <p:nvPicPr>
          <p:cNvPr id="3" name="Picture 2" descr="demo_BFS.png"/>
          <p:cNvPicPr>
            <a:picLocks noChangeAspect="1"/>
          </p:cNvPicPr>
          <p:nvPr/>
        </p:nvPicPr>
        <p:blipFill>
          <a:blip r:embed="rId2"/>
          <a:stretch>
            <a:fillRect/>
          </a:stretch>
        </p:blipFill>
        <p:spPr>
          <a:xfrm>
            <a:off x="777240" y="2148840"/>
            <a:ext cx="6583680" cy="4681454"/>
          </a:xfrm>
          <a:prstGeom prst="rect">
            <a:avLst/>
          </a:prstGeom>
        </p:spPr>
      </p:pic>
      <p:sp>
        <p:nvSpPr>
          <p:cNvPr id="4" name="Rounded Rectangle 3"/>
          <p:cNvSpPr/>
          <p:nvPr/>
        </p:nvSpPr>
        <p:spPr>
          <a:xfrm>
            <a:off x="7635240" y="2240280"/>
            <a:ext cx="3779215" cy="1572768"/>
          </a:xfrm>
          <a:prstGeom prst="roundRect">
            <a:avLst>
              <a:gd name="adj" fmla="val 6000"/>
            </a:avLst>
          </a:prstGeom>
          <a:solidFill>
            <a:srgbClr val="1B1B24"/>
          </a:solidFill>
          <a:ln w="12700">
            <a:solidFill>
              <a:srgbClr val="2E2E3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7635240" y="2240280"/>
            <a:ext cx="50292" cy="1572768"/>
          </a:xfrm>
          <a:prstGeom prst="rect">
            <a:avLst/>
          </a:prstGeom>
          <a:solidFill>
            <a:srgbClr val="7C65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09560" y="2441448"/>
            <a:ext cx="3230575" cy="1188720"/>
          </a:xfrm>
          <a:prstGeom prst="rect">
            <a:avLst/>
          </a:prstGeom>
          <a:noFill/>
        </p:spPr>
        <p:txBody>
          <a:bodyPr wrap="square" lIns="0" rIns="0" tIns="0" bIns="0">
            <a:spAutoFit/>
          </a:bodyPr>
          <a:lstStyle/>
          <a:p>
            <a:pPr>
              <a:spcAft>
                <a:spcPts val="600"/>
              </a:spcAft>
              <a:defRPr sz="1700" b="1">
                <a:solidFill>
                  <a:srgbClr val="7C65D6"/>
                </a:solidFill>
                <a:latin typeface="Segoe UI"/>
              </a:defRPr>
            </a:pPr>
            <a:r>
              <a:t>BFS — 175 cells</a:t>
            </a:r>
          </a:p>
          <a:p>
            <a:pPr>
              <a:lnSpc>
                <a:spcPct val="130000"/>
              </a:lnSpc>
              <a:spcAft>
                <a:spcPts val="0"/>
              </a:spcAft>
              <a:defRPr sz="1250" b="0">
                <a:solidFill>
                  <a:srgbClr val="C9CEDA"/>
                </a:solidFill>
                <a:latin typeface="Segoe UI"/>
              </a:defRPr>
            </a:pPr>
            <a:r>
              <a:t>A FIFO queue, so it finishes every cell at distance d before touching d+1. Shortest path guaranteed — but it floods outward in all directions.</a:t>
            </a:r>
          </a:p>
        </p:txBody>
      </p:sp>
      <p:sp>
        <p:nvSpPr>
          <p:cNvPr id="7" name="Rounded Rectangle 6"/>
          <p:cNvSpPr/>
          <p:nvPr/>
        </p:nvSpPr>
        <p:spPr>
          <a:xfrm>
            <a:off x="7635240" y="4023360"/>
            <a:ext cx="3779215" cy="1572768"/>
          </a:xfrm>
          <a:prstGeom prst="roundRect">
            <a:avLst>
              <a:gd name="adj" fmla="val 6000"/>
            </a:avLst>
          </a:prstGeom>
          <a:solidFill>
            <a:srgbClr val="1B1B24"/>
          </a:solidFill>
          <a:ln w="12700">
            <a:solidFill>
              <a:srgbClr val="2E2E3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635240" y="4023360"/>
            <a:ext cx="50292" cy="1572768"/>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09560" y="4224528"/>
            <a:ext cx="3230575" cy="1188720"/>
          </a:xfrm>
          <a:prstGeom prst="rect">
            <a:avLst/>
          </a:prstGeom>
          <a:noFill/>
        </p:spPr>
        <p:txBody>
          <a:bodyPr wrap="square" lIns="0" rIns="0" tIns="0" bIns="0">
            <a:spAutoFit/>
          </a:bodyPr>
          <a:lstStyle/>
          <a:p>
            <a:pPr>
              <a:spcAft>
                <a:spcPts val="600"/>
              </a:spcAft>
              <a:defRPr sz="1700" b="1">
                <a:solidFill>
                  <a:srgbClr val="F2994A"/>
                </a:solidFill>
                <a:latin typeface="Segoe UI"/>
              </a:defRPr>
            </a:pPr>
            <a:r>
              <a:t>A* — 100 cells</a:t>
            </a:r>
          </a:p>
          <a:p>
            <a:pPr>
              <a:lnSpc>
                <a:spcPct val="130000"/>
              </a:lnSpc>
              <a:spcAft>
                <a:spcPts val="0"/>
              </a:spcAft>
              <a:defRPr sz="1250" b="0">
                <a:solidFill>
                  <a:srgbClr val="C9CEDA"/>
                </a:solidFill>
                <a:latin typeface="Segoe UI"/>
              </a:defRPr>
            </a:pPr>
            <a:r>
              <a:t>Scores each cell f = g + h, where h is Manhattan distance. Same shortest path, but it leans toward the player instead of spreading evenly.</a:t>
            </a:r>
          </a:p>
        </p:txBody>
      </p:sp>
      <p:sp>
        <p:nvSpPr>
          <p:cNvPr id="10" name="TextBox 9"/>
          <p:cNvSpPr txBox="1"/>
          <p:nvPr/>
        </p:nvSpPr>
        <p:spPr>
          <a:xfrm>
            <a:off x="7635240" y="5852160"/>
            <a:ext cx="3779215" cy="457200"/>
          </a:xfrm>
          <a:prstGeom prst="rect">
            <a:avLst/>
          </a:prstGeom>
          <a:noFill/>
        </p:spPr>
        <p:txBody>
          <a:bodyPr wrap="square" lIns="0" rIns="0" tIns="0" bIns="0">
            <a:spAutoFit/>
          </a:bodyPr>
          <a:lstStyle/>
          <a:p>
            <a:pPr>
              <a:lnSpc>
                <a:spcPct val="125000"/>
              </a:lnSpc>
              <a:spcAft>
                <a:spcPts val="0"/>
              </a:spcAft>
              <a:defRPr sz="1150" b="0">
                <a:solidFill>
                  <a:srgbClr val="6A7179"/>
                </a:solidFill>
                <a:latin typeface="Segoe UI"/>
              </a:defRPr>
            </a:pPr>
            <a:r>
              <a:t>Press TAB mid-chase to swap them. The counts update live in the HUD.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7171F"/>
        </a:solidFill>
        <a:effectLst/>
      </p:bgPr>
    </p:bg>
    <p:spTree>
      <p:nvGrpSpPr>
        <p:cNvPr id="1" name=""/>
        <p:cNvGrpSpPr/>
        <p:nvPr/>
      </p:nvGrpSpPr>
      <p:grpSpPr/>
      <p:sp>
        <p:nvSpPr>
          <p:cNvPr id="2" name="TextBox 1"/>
          <p:cNvSpPr txBox="1"/>
          <p:nvPr/>
        </p:nvSpPr>
        <p:spPr>
          <a:xfrm>
            <a:off x="777240" y="566928"/>
            <a:ext cx="10637215" cy="1371600"/>
          </a:xfrm>
          <a:prstGeom prst="rect">
            <a:avLst/>
          </a:prstGeom>
          <a:noFill/>
        </p:spPr>
        <p:txBody>
          <a:bodyPr wrap="square" lIns="0" rIns="0" tIns="0" bIns="0">
            <a:spAutoFit/>
          </a:bodyPr>
          <a:lstStyle/>
          <a:p>
            <a:pPr>
              <a:spcAft>
                <a:spcPts val="700"/>
              </a:spcAft>
              <a:defRPr sz="3800" b="1">
                <a:solidFill>
                  <a:srgbClr val="F2F2F7"/>
                </a:solidFill>
                <a:latin typeface="Segoe UI"/>
              </a:defRPr>
            </a:pPr>
            <a:r>
              <a:t>Building the maze</a:t>
            </a:r>
          </a:p>
          <a:p>
            <a:pPr>
              <a:lnSpc>
                <a:spcPct val="130000"/>
              </a:lnSpc>
              <a:spcAft>
                <a:spcPts val="0"/>
              </a:spcAft>
              <a:defRPr sz="1600" b="0">
                <a:solidFill>
                  <a:srgbClr val="9BA3B4"/>
                </a:solidFill>
                <a:latin typeface="Segoe UI"/>
              </a:defRPr>
            </a:pPr>
            <a:r>
              <a:t>A recursive backtracker carves it at runtime — depth-first search used to dig instead of to search.</a:t>
            </a:r>
          </a:p>
        </p:txBody>
      </p:sp>
      <p:pic>
        <p:nvPicPr>
          <p:cNvPr id="3" name="Picture 2" descr="demo_carving.png"/>
          <p:cNvPicPr>
            <a:picLocks noChangeAspect="1"/>
          </p:cNvPicPr>
          <p:nvPr/>
        </p:nvPicPr>
        <p:blipFill>
          <a:blip r:embed="rId2"/>
          <a:stretch>
            <a:fillRect/>
          </a:stretch>
        </p:blipFill>
        <p:spPr>
          <a:xfrm>
            <a:off x="777240" y="1920240"/>
            <a:ext cx="5760720" cy="4517091"/>
          </a:xfrm>
          <a:prstGeom prst="rect">
            <a:avLst/>
          </a:prstGeom>
        </p:spPr>
      </p:pic>
      <p:sp>
        <p:nvSpPr>
          <p:cNvPr id="4" name="Rounded Rectangle 3"/>
          <p:cNvSpPr/>
          <p:nvPr/>
        </p:nvSpPr>
        <p:spPr>
          <a:xfrm>
            <a:off x="6903720" y="1920240"/>
            <a:ext cx="4510735" cy="1600200"/>
          </a:xfrm>
          <a:prstGeom prst="roundRect">
            <a:avLst>
              <a:gd name="adj" fmla="val 6000"/>
            </a:avLst>
          </a:prstGeom>
          <a:solidFill>
            <a:srgbClr val="1B1B24"/>
          </a:solidFill>
          <a:ln w="12700">
            <a:solidFill>
              <a:srgbClr val="2E2E3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6903720" y="1920240"/>
            <a:ext cx="50292" cy="1600200"/>
          </a:xfrm>
          <a:prstGeom prst="rect">
            <a:avLst/>
          </a:prstGeom>
          <a:solidFill>
            <a:srgbClr val="56CC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59752" y="2103120"/>
            <a:ext cx="3998671" cy="1280160"/>
          </a:xfrm>
          <a:prstGeom prst="rect">
            <a:avLst/>
          </a:prstGeom>
          <a:noFill/>
        </p:spPr>
        <p:txBody>
          <a:bodyPr wrap="square" lIns="0" rIns="0" tIns="0" bIns="0">
            <a:spAutoFit/>
          </a:bodyPr>
          <a:lstStyle/>
          <a:p>
            <a:pPr>
              <a:spcAft>
                <a:spcPts val="500"/>
              </a:spcAft>
              <a:defRPr sz="1500" b="1">
                <a:solidFill>
                  <a:srgbClr val="56CCF2"/>
                </a:solidFill>
                <a:latin typeface="Segoe UI"/>
              </a:defRPr>
            </a:pPr>
            <a:r>
              <a:t>Carve two cells at a time</a:t>
            </a:r>
          </a:p>
          <a:p>
            <a:pPr>
              <a:lnSpc>
                <a:spcPct val="125000"/>
              </a:lnSpc>
              <a:spcAft>
                <a:spcPts val="0"/>
              </a:spcAft>
              <a:defRPr sz="1150" b="0">
                <a:solidFill>
                  <a:srgbClr val="C9CEDA"/>
                </a:solidFill>
                <a:latin typeface="Segoe UI"/>
              </a:defRPr>
            </a:pPr>
            <a:r>
              <a:t>Pick a random neighbour TWO cells away and knock out the wall between. Dead end? Pop the stack and back up. Two cells keeps walls on even coordinates and one cell thick — one at a time dissolves the grid into an open room.</a:t>
            </a:r>
          </a:p>
        </p:txBody>
      </p:sp>
      <p:sp>
        <p:nvSpPr>
          <p:cNvPr id="7" name="Rounded Rectangle 6"/>
          <p:cNvSpPr/>
          <p:nvPr/>
        </p:nvSpPr>
        <p:spPr>
          <a:xfrm>
            <a:off x="6903720" y="3703320"/>
            <a:ext cx="4510735" cy="1600200"/>
          </a:xfrm>
          <a:prstGeom prst="roundRect">
            <a:avLst>
              <a:gd name="adj" fmla="val 6000"/>
            </a:avLst>
          </a:prstGeom>
          <a:solidFill>
            <a:srgbClr val="1B1B24"/>
          </a:solidFill>
          <a:ln w="12700">
            <a:solidFill>
              <a:srgbClr val="2E2E3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903720" y="3703320"/>
            <a:ext cx="50292" cy="1600200"/>
          </a:xfrm>
          <a:prstGeom prst="rect">
            <a:avLst/>
          </a:prstGeom>
          <a:solidFill>
            <a:srgbClr val="2D9D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59752" y="3886200"/>
            <a:ext cx="3998671" cy="1280160"/>
          </a:xfrm>
          <a:prstGeom prst="rect">
            <a:avLst/>
          </a:prstGeom>
          <a:noFill/>
        </p:spPr>
        <p:txBody>
          <a:bodyPr wrap="square" lIns="0" rIns="0" tIns="0" bIns="0">
            <a:spAutoFit/>
          </a:bodyPr>
          <a:lstStyle/>
          <a:p>
            <a:pPr>
              <a:spcAft>
                <a:spcPts val="500"/>
              </a:spcAft>
              <a:defRPr sz="1500" b="1">
                <a:solidFill>
                  <a:srgbClr val="2D9D78"/>
                </a:solidFill>
                <a:latin typeface="Segoe UI"/>
              </a:defRPr>
            </a:pPr>
            <a:r>
              <a:t>Then braid it open</a:t>
            </a:r>
          </a:p>
          <a:p>
            <a:pPr>
              <a:lnSpc>
                <a:spcPct val="125000"/>
              </a:lnSpc>
              <a:spcAft>
                <a:spcPts val="0"/>
              </a:spcAft>
              <a:defRPr sz="1150" b="0">
                <a:solidFill>
                  <a:srgbClr val="C9CEDA"/>
                </a:solidFill>
                <a:latin typeface="Segoe UI"/>
              </a:defRPr>
            </a:pPr>
            <a:r>
              <a:t>A finished maze is perfect — one route between any two cells, so it is nothing but dead ends and the player gets cornered. We reopen 35% into loops. That also widened A*'s lead from 11% to 26%.</a:t>
            </a:r>
          </a:p>
        </p:txBody>
      </p:sp>
      <p:sp>
        <p:nvSpPr>
          <p:cNvPr id="10" name="Rounded Rectangle 9"/>
          <p:cNvSpPr/>
          <p:nvPr/>
        </p:nvSpPr>
        <p:spPr>
          <a:xfrm>
            <a:off x="777240" y="5532120"/>
            <a:ext cx="3423818" cy="713232"/>
          </a:xfrm>
          <a:prstGeom prst="roundRect">
            <a:avLst>
              <a:gd name="adj" fmla="val 6000"/>
            </a:avLst>
          </a:prstGeom>
          <a:solidFill>
            <a:srgbClr val="1B1B24"/>
          </a:solidFill>
          <a:ln w="12700">
            <a:solidFill>
              <a:srgbClr val="2E2E3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96696" y="5641848"/>
            <a:ext cx="2984906" cy="548640"/>
          </a:xfrm>
          <a:prstGeom prst="rect">
            <a:avLst/>
          </a:prstGeom>
          <a:noFill/>
        </p:spPr>
        <p:txBody>
          <a:bodyPr wrap="square" lIns="0" rIns="0" tIns="0" bIns="0">
            <a:spAutoFit/>
          </a:bodyPr>
          <a:lstStyle/>
          <a:p>
            <a:pPr>
              <a:spcAft>
                <a:spcPts val="200"/>
              </a:spcAft>
              <a:defRPr sz="1050" b="0">
                <a:solidFill>
                  <a:srgbClr val="9BA3B4"/>
                </a:solidFill>
                <a:latin typeface="Consolas"/>
              </a:defRPr>
            </a:pPr>
            <a:r>
              <a:t>STACK</a:t>
            </a:r>
          </a:p>
          <a:p>
            <a:pPr>
              <a:spcAft>
                <a:spcPts val="0"/>
              </a:spcAft>
              <a:defRPr sz="1200" b="0">
                <a:solidFill>
                  <a:srgbClr val="F2F2F7"/>
                </a:solidFill>
                <a:latin typeface="Segoe UI"/>
              </a:defRPr>
            </a:pPr>
            <a:r>
              <a:t>Python 3 · pygame-ce · matplotlib</a:t>
            </a:r>
          </a:p>
        </p:txBody>
      </p:sp>
      <p:sp>
        <p:nvSpPr>
          <p:cNvPr id="12" name="Rounded Rectangle 11"/>
          <p:cNvSpPr/>
          <p:nvPr/>
        </p:nvSpPr>
        <p:spPr>
          <a:xfrm>
            <a:off x="4383938" y="5532120"/>
            <a:ext cx="3423818" cy="713232"/>
          </a:xfrm>
          <a:prstGeom prst="roundRect">
            <a:avLst>
              <a:gd name="adj" fmla="val 6000"/>
            </a:avLst>
          </a:prstGeom>
          <a:solidFill>
            <a:srgbClr val="1B1B24"/>
          </a:solidFill>
          <a:ln w="12700">
            <a:solidFill>
              <a:srgbClr val="2E2E3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3394" y="5641848"/>
            <a:ext cx="2984906" cy="548640"/>
          </a:xfrm>
          <a:prstGeom prst="rect">
            <a:avLst/>
          </a:prstGeom>
          <a:noFill/>
        </p:spPr>
        <p:txBody>
          <a:bodyPr wrap="square" lIns="0" rIns="0" tIns="0" bIns="0">
            <a:spAutoFit/>
          </a:bodyPr>
          <a:lstStyle/>
          <a:p>
            <a:pPr>
              <a:spcAft>
                <a:spcPts val="200"/>
              </a:spcAft>
              <a:defRPr sz="1050" b="0">
                <a:solidFill>
                  <a:srgbClr val="9BA3B4"/>
                </a:solidFill>
                <a:latin typeface="Consolas"/>
              </a:defRPr>
            </a:pPr>
            <a:r>
              <a:t>ALGORITHMS</a:t>
            </a:r>
          </a:p>
          <a:p>
            <a:pPr>
              <a:spcAft>
                <a:spcPts val="0"/>
              </a:spcAft>
              <a:defRPr sz="1200" b="0">
                <a:solidFill>
                  <a:srgbClr val="F2F2F7"/>
                </a:solidFill>
                <a:latin typeface="Segoe UI"/>
              </a:defRPr>
            </a:pPr>
            <a:r>
              <a:t>BFS · A* · flood fill · backtracker</a:t>
            </a:r>
          </a:p>
        </p:txBody>
      </p:sp>
      <p:sp>
        <p:nvSpPr>
          <p:cNvPr id="14" name="Rounded Rectangle 13"/>
          <p:cNvSpPr/>
          <p:nvPr/>
        </p:nvSpPr>
        <p:spPr>
          <a:xfrm>
            <a:off x="7990636" y="5532120"/>
            <a:ext cx="3423818" cy="713232"/>
          </a:xfrm>
          <a:prstGeom prst="roundRect">
            <a:avLst>
              <a:gd name="adj" fmla="val 6000"/>
            </a:avLst>
          </a:prstGeom>
          <a:solidFill>
            <a:srgbClr val="1B1B24"/>
          </a:solidFill>
          <a:ln w="12700">
            <a:solidFill>
              <a:srgbClr val="2E2E3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8210092" y="5641848"/>
            <a:ext cx="2984906" cy="548640"/>
          </a:xfrm>
          <a:prstGeom prst="rect">
            <a:avLst/>
          </a:prstGeom>
          <a:noFill/>
        </p:spPr>
        <p:txBody>
          <a:bodyPr wrap="square" lIns="0" rIns="0" tIns="0" bIns="0">
            <a:spAutoFit/>
          </a:bodyPr>
          <a:lstStyle/>
          <a:p>
            <a:pPr>
              <a:spcAft>
                <a:spcPts val="200"/>
              </a:spcAft>
              <a:defRPr sz="1050" b="0">
                <a:solidFill>
                  <a:srgbClr val="2D9D78"/>
                </a:solidFill>
                <a:latin typeface="Consolas"/>
              </a:defRPr>
            </a:pPr>
            <a:r>
              <a:t>OUR TOOLING</a:t>
            </a:r>
          </a:p>
          <a:p>
            <a:pPr>
              <a:spcAft>
                <a:spcPts val="0"/>
              </a:spcAft>
              <a:defRPr sz="1200" b="0">
                <a:solidFill>
                  <a:srgbClr val="F2F2F7"/>
                </a:solidFill>
                <a:latin typeface="Segoe UI"/>
              </a:defRPr>
            </a:pPr>
            <a:r>
              <a:t>benchmark · autoplay · 226 tests</a:t>
            </a:r>
          </a:p>
        </p:txBody>
      </p:sp>
      <p:sp>
        <p:nvSpPr>
          <p:cNvPr id="16" name="TextBox 15"/>
          <p:cNvSpPr txBox="1"/>
          <p:nvPr/>
        </p:nvSpPr>
        <p:spPr>
          <a:xfrm>
            <a:off x="777240" y="6309360"/>
            <a:ext cx="10637215" cy="365760"/>
          </a:xfrm>
          <a:prstGeom prst="rect">
            <a:avLst/>
          </a:prstGeom>
          <a:noFill/>
        </p:spPr>
        <p:txBody>
          <a:bodyPr wrap="square" lIns="0" rIns="0" tIns="0" bIns="0">
            <a:spAutoFit/>
          </a:bodyPr>
          <a:lstStyle/>
          <a:p>
            <a:pPr>
              <a:spcAft>
                <a:spcPts val="0"/>
              </a:spcAft>
              <a:defRPr sz="1050" b="0">
                <a:solidFill>
                  <a:srgbClr val="6A7179"/>
                </a:solidFill>
                <a:latin typeface="Consolas"/>
              </a:defRPr>
            </a:pPr>
            <a:r>
              <a:t>No dataset, no network, no hardware  ·  github.com/Hyperval/maze-runner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21218"/>
        </a:solidFill>
        <a:effectLst/>
      </p:bgPr>
    </p:bg>
    <p:spTree>
      <p:nvGrpSpPr>
        <p:cNvPr id="1" name=""/>
        <p:cNvGrpSpPr/>
        <p:nvPr/>
      </p:nvGrpSpPr>
      <p:grpSpPr/>
      <p:sp>
        <p:nvSpPr>
          <p:cNvPr id="2" name="TextBox 1"/>
          <p:cNvSpPr txBox="1"/>
          <p:nvPr/>
        </p:nvSpPr>
        <p:spPr>
          <a:xfrm>
            <a:off x="777240" y="566928"/>
            <a:ext cx="10637215" cy="1371600"/>
          </a:xfrm>
          <a:prstGeom prst="rect">
            <a:avLst/>
          </a:prstGeom>
          <a:noFill/>
        </p:spPr>
        <p:txBody>
          <a:bodyPr wrap="square" lIns="0" rIns="0" tIns="0" bIns="0">
            <a:spAutoFit/>
          </a:bodyPr>
          <a:lstStyle/>
          <a:p>
            <a:pPr>
              <a:spcAft>
                <a:spcPts val="700"/>
              </a:spcAft>
              <a:defRPr sz="3800" b="1">
                <a:solidFill>
                  <a:srgbClr val="F2F2F7"/>
                </a:solidFill>
                <a:latin typeface="Segoe UI"/>
              </a:defRPr>
            </a:pPr>
            <a:r>
              <a:t>Three things that went wrong</a:t>
            </a:r>
          </a:p>
          <a:p>
            <a:pPr>
              <a:lnSpc>
                <a:spcPct val="130000"/>
              </a:lnSpc>
              <a:spcAft>
                <a:spcPts val="0"/>
              </a:spcAft>
              <a:defRPr sz="1600" b="0">
                <a:solidFill>
                  <a:srgbClr val="9BA3B4"/>
                </a:solidFill>
                <a:latin typeface="Segoe UI"/>
              </a:defRPr>
            </a:pPr>
            <a:r>
              <a:t>Each one was found by measurement, not by playing.</a:t>
            </a:r>
          </a:p>
        </p:txBody>
      </p:sp>
      <p:sp>
        <p:nvSpPr>
          <p:cNvPr id="3" name="Rounded Rectangle 2"/>
          <p:cNvSpPr/>
          <p:nvPr/>
        </p:nvSpPr>
        <p:spPr>
          <a:xfrm>
            <a:off x="777240" y="2194560"/>
            <a:ext cx="5120640" cy="1225296"/>
          </a:xfrm>
          <a:prstGeom prst="roundRect">
            <a:avLst>
              <a:gd name="adj" fmla="val 6000"/>
            </a:avLst>
          </a:prstGeom>
          <a:solidFill>
            <a:srgbClr val="1B1B24"/>
          </a:solidFill>
          <a:ln w="12700">
            <a:solidFill>
              <a:srgbClr val="2E2E3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194560"/>
            <a:ext cx="50292" cy="1225296"/>
          </a:xfrm>
          <a:prstGeom prst="rect">
            <a:avLst/>
          </a:prstGeom>
          <a:solidFill>
            <a:srgbClr val="EB5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33272" y="2350008"/>
            <a:ext cx="4608576" cy="914400"/>
          </a:xfrm>
          <a:prstGeom prst="rect">
            <a:avLst/>
          </a:prstGeom>
          <a:noFill/>
        </p:spPr>
        <p:txBody>
          <a:bodyPr wrap="square" lIns="0" rIns="0" tIns="0" bIns="0">
            <a:spAutoFit/>
          </a:bodyPr>
          <a:lstStyle/>
          <a:p>
            <a:pPr>
              <a:spcAft>
                <a:spcPts val="500"/>
              </a:spcAft>
              <a:defRPr sz="1500" b="1">
                <a:solidFill>
                  <a:srgbClr val="EB5757"/>
                </a:solidFill>
                <a:latin typeface="Segoe UI"/>
              </a:defRPr>
            </a:pPr>
            <a:r>
              <a:t>The enemy camped the exit</a:t>
            </a:r>
          </a:p>
          <a:p>
            <a:pPr>
              <a:lnSpc>
                <a:spcPct val="125000"/>
              </a:lnSpc>
              <a:spcAft>
                <a:spcPts val="0"/>
              </a:spcAft>
              <a:defRPr sz="1150" b="0">
                <a:solidFill>
                  <a:srgbClr val="C9CEDA"/>
                </a:solidFill>
                <a:latin typeface="Segoe UI"/>
              </a:defRPr>
            </a:pPr>
            <a:r>
              <a:t>We spawned it farthest from the player — which is the opposite corner, exactly where the exit is. Fixed by maximising min(distance to player, distance to exit), using real walking distance so walls count.</a:t>
            </a:r>
          </a:p>
        </p:txBody>
      </p:sp>
      <p:sp>
        <p:nvSpPr>
          <p:cNvPr id="6" name="Rounded Rectangle 5"/>
          <p:cNvSpPr/>
          <p:nvPr/>
        </p:nvSpPr>
        <p:spPr>
          <a:xfrm>
            <a:off x="777240" y="3584448"/>
            <a:ext cx="5120640" cy="1225296"/>
          </a:xfrm>
          <a:prstGeom prst="roundRect">
            <a:avLst>
              <a:gd name="adj" fmla="val 6000"/>
            </a:avLst>
          </a:prstGeom>
          <a:solidFill>
            <a:srgbClr val="1B1B24"/>
          </a:solidFill>
          <a:ln w="12700">
            <a:solidFill>
              <a:srgbClr val="2E2E3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3584448"/>
            <a:ext cx="50292" cy="1225296"/>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33272" y="3739896"/>
            <a:ext cx="4608576" cy="914400"/>
          </a:xfrm>
          <a:prstGeom prst="rect">
            <a:avLst/>
          </a:prstGeom>
          <a:noFill/>
        </p:spPr>
        <p:txBody>
          <a:bodyPr wrap="square" lIns="0" rIns="0" tIns="0" bIns="0">
            <a:spAutoFit/>
          </a:bodyPr>
          <a:lstStyle/>
          <a:p>
            <a:pPr>
              <a:spcAft>
                <a:spcPts val="500"/>
              </a:spcAft>
              <a:defRPr sz="1500" b="1">
                <a:solidFill>
                  <a:srgbClr val="F2994A"/>
                </a:solidFill>
                <a:latin typeface="Segoe UI"/>
              </a:defRPr>
            </a:pPr>
            <a:r>
              <a:t>The game was unwinnable</a:t>
            </a:r>
          </a:p>
          <a:p>
            <a:pPr>
              <a:lnSpc>
                <a:spcPct val="125000"/>
              </a:lnSpc>
              <a:spcAft>
                <a:spcPts val="0"/>
              </a:spcAft>
              <a:defRPr sz="1150" b="0">
                <a:solidFill>
                  <a:srgbClr val="C9CEDA"/>
                </a:solidFill>
                <a:latin typeface="Segoe UI"/>
              </a:defRPr>
            </a:pPr>
            <a:r>
              <a:t>Our bot tester reported 0% win rate from level 3. Root cause: the enemy's floor speed was 100ms against the player's 90ms — only 1.1x slower than something that never rests and always takes the shortest route.</a:t>
            </a:r>
          </a:p>
        </p:txBody>
      </p:sp>
      <p:sp>
        <p:nvSpPr>
          <p:cNvPr id="9" name="Rounded Rectangle 8"/>
          <p:cNvSpPr/>
          <p:nvPr/>
        </p:nvSpPr>
        <p:spPr>
          <a:xfrm>
            <a:off x="777240" y="4974336"/>
            <a:ext cx="5120640" cy="1225296"/>
          </a:xfrm>
          <a:prstGeom prst="roundRect">
            <a:avLst>
              <a:gd name="adj" fmla="val 6000"/>
            </a:avLst>
          </a:prstGeom>
          <a:solidFill>
            <a:srgbClr val="1B1B24"/>
          </a:solidFill>
          <a:ln w="12700">
            <a:solidFill>
              <a:srgbClr val="2E2E3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777240" y="4974336"/>
            <a:ext cx="50292" cy="1225296"/>
          </a:xfrm>
          <a:prstGeom prst="rect">
            <a:avLst/>
          </a:prstGeom>
          <a:solidFill>
            <a:srgbClr val="2D9D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2" y="5129784"/>
            <a:ext cx="4608576" cy="914400"/>
          </a:xfrm>
          <a:prstGeom prst="rect">
            <a:avLst/>
          </a:prstGeom>
          <a:noFill/>
        </p:spPr>
        <p:txBody>
          <a:bodyPr wrap="square" lIns="0" rIns="0" tIns="0" bIns="0">
            <a:spAutoFit/>
          </a:bodyPr>
          <a:lstStyle/>
          <a:p>
            <a:pPr>
              <a:spcAft>
                <a:spcPts val="500"/>
              </a:spcAft>
              <a:defRPr sz="1500" b="1">
                <a:solidFill>
                  <a:srgbClr val="2D9D78"/>
                </a:solidFill>
                <a:latin typeface="Segoe UI"/>
              </a:defRPr>
            </a:pPr>
            <a:r>
              <a:t>After tuning, over 500 runs</a:t>
            </a:r>
          </a:p>
          <a:p>
            <a:pPr>
              <a:lnSpc>
                <a:spcPct val="125000"/>
              </a:lnSpc>
              <a:spcAft>
                <a:spcPts val="0"/>
              </a:spcAft>
              <a:defRPr sz="1150" b="0">
                <a:solidFill>
                  <a:srgbClr val="C9CEDA"/>
                </a:solidFill>
                <a:latin typeface="Segoe UI"/>
              </a:defRPr>
            </a:pPr>
            <a:r>
              <a:t>Levels 1-3 land at 68-70%, levels 4-10 at 20-38%. No crashes. We tuned difficulty against numbers, not feel.</a:t>
            </a:r>
          </a:p>
        </p:txBody>
      </p:sp>
      <p:pic>
        <p:nvPicPr>
          <p:cNvPr id="12" name="Picture 11" descr="benchmark.png"/>
          <p:cNvPicPr>
            <a:picLocks noChangeAspect="1"/>
          </p:cNvPicPr>
          <p:nvPr/>
        </p:nvPicPr>
        <p:blipFill>
          <a:blip r:embed="rId2"/>
          <a:stretch>
            <a:fillRect/>
          </a:stretch>
        </p:blipFill>
        <p:spPr>
          <a:xfrm>
            <a:off x="6309360" y="2194560"/>
            <a:ext cx="5105095" cy="1914411"/>
          </a:xfrm>
          <a:prstGeom prst="rect">
            <a:avLst/>
          </a:prstGeom>
        </p:spPr>
      </p:pic>
      <p:sp>
        <p:nvSpPr>
          <p:cNvPr id="13" name="Rounded Rectangle 12"/>
          <p:cNvSpPr/>
          <p:nvPr/>
        </p:nvSpPr>
        <p:spPr>
          <a:xfrm>
            <a:off x="6309360" y="4343400"/>
            <a:ext cx="5105095" cy="1828800"/>
          </a:xfrm>
          <a:prstGeom prst="roundRect">
            <a:avLst>
              <a:gd name="adj" fmla="val 6000"/>
            </a:avLst>
          </a:prstGeom>
          <a:solidFill>
            <a:srgbClr val="1B1B24"/>
          </a:solidFill>
          <a:ln w="17780">
            <a:solidFill>
              <a:srgbClr val="56CCF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565392" y="4526280"/>
            <a:ext cx="4593031" cy="1554480"/>
          </a:xfrm>
          <a:prstGeom prst="rect">
            <a:avLst/>
          </a:prstGeom>
          <a:noFill/>
        </p:spPr>
        <p:txBody>
          <a:bodyPr wrap="square" lIns="0" rIns="0" tIns="0" bIns="0">
            <a:spAutoFit/>
          </a:bodyPr>
          <a:lstStyle/>
          <a:p>
            <a:pPr>
              <a:spcAft>
                <a:spcPts val="500"/>
              </a:spcAft>
              <a:defRPr sz="1500" b="1">
                <a:solidFill>
                  <a:srgbClr val="56CCF2"/>
                </a:solidFill>
                <a:latin typeface="Segoe UI"/>
              </a:defRPr>
            </a:pPr>
            <a:r>
              <a:t>The result we did not expect</a:t>
            </a:r>
          </a:p>
          <a:p>
            <a:pPr>
              <a:lnSpc>
                <a:spcPct val="125000"/>
              </a:lnSpc>
              <a:spcAft>
                <a:spcPts val="0"/>
              </a:spcAft>
              <a:defRPr sz="1150" b="0">
                <a:solidFill>
                  <a:srgbClr val="C9CEDA"/>
                </a:solidFill>
                <a:latin typeface="Segoe UI"/>
              </a:defRPr>
            </a:pPr>
            <a:r>
              <a:t>A* expanded 26% fewer cells — but ran slower in wall-clock time, 0.219ms against 0.169ms. BFS uses a deque at O(1) per operation; A* uses a heap at O(log n) plus a heuristic per neighbour. At 650 cells the overhead per cell beats the cells saved.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56CCF2"/>
        </a:solidFill>
        <a:effectLst/>
      </p:bgPr>
    </p:bg>
    <p:spTree>
      <p:nvGrpSpPr>
        <p:cNvPr id="1" name=""/>
        <p:cNvGrpSpPr/>
        <p:nvPr/>
      </p:nvGrpSpPr>
      <p:grpSpPr/>
      <p:sp>
        <p:nvSpPr>
          <p:cNvPr id="2" name="TextBox 1"/>
          <p:cNvSpPr txBox="1"/>
          <p:nvPr/>
        </p:nvSpPr>
        <p:spPr>
          <a:xfrm>
            <a:off x="777240" y="685800"/>
            <a:ext cx="10637215" cy="1371600"/>
          </a:xfrm>
          <a:prstGeom prst="rect">
            <a:avLst/>
          </a:prstGeom>
          <a:noFill/>
        </p:spPr>
        <p:txBody>
          <a:bodyPr wrap="square" lIns="0" rIns="0" tIns="0" bIns="0">
            <a:spAutoFit/>
          </a:bodyPr>
          <a:lstStyle/>
          <a:p>
            <a:pPr>
              <a:spcAft>
                <a:spcPts val="900"/>
              </a:spcAft>
              <a:defRPr sz="1300" b="0">
                <a:solidFill>
                  <a:srgbClr val="15506B"/>
                </a:solidFill>
                <a:latin typeface="Consolas"/>
              </a:defRPr>
            </a:pPr>
            <a:r>
              <a:t>FUTURE SCOPE</a:t>
            </a:r>
          </a:p>
          <a:p>
            <a:pPr>
              <a:spcAft>
                <a:spcPts val="0"/>
              </a:spcAft>
              <a:defRPr sz="4000" b="1">
                <a:solidFill>
                  <a:srgbClr val="121218"/>
                </a:solidFill>
                <a:latin typeface="Segoe UI"/>
              </a:defRPr>
            </a:pPr>
            <a:r>
              <a:t>What we would build next</a:t>
            </a:r>
          </a:p>
        </p:txBody>
      </p:sp>
      <p:sp>
        <p:nvSpPr>
          <p:cNvPr id="3" name="Rounded Rectangle 2"/>
          <p:cNvSpPr/>
          <p:nvPr/>
        </p:nvSpPr>
        <p:spPr>
          <a:xfrm>
            <a:off x="777240" y="2514600"/>
            <a:ext cx="2508427" cy="2286000"/>
          </a:xfrm>
          <a:prstGeom prst="roundRect">
            <a:avLst>
              <a:gd name="adj" fmla="val 6000"/>
            </a:avLst>
          </a:prstGeom>
          <a:solidFill>
            <a:srgbClr val="EAF8FE"/>
          </a:solidFill>
          <a:ln w="12700">
            <a:solidFill>
              <a:srgbClr val="8FD9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33272" y="2743200"/>
            <a:ext cx="1996363" cy="1920240"/>
          </a:xfrm>
          <a:prstGeom prst="rect">
            <a:avLst/>
          </a:prstGeom>
          <a:noFill/>
        </p:spPr>
        <p:txBody>
          <a:bodyPr wrap="square" lIns="0" rIns="0" tIns="0" bIns="0">
            <a:spAutoFit/>
          </a:bodyPr>
          <a:lstStyle/>
          <a:p>
            <a:pPr>
              <a:spcAft>
                <a:spcPts val="700"/>
              </a:spcAft>
              <a:defRPr sz="1500" b="1">
                <a:solidFill>
                  <a:srgbClr val="121218"/>
                </a:solidFill>
                <a:latin typeface="Segoe UI"/>
              </a:defRPr>
            </a:pPr>
            <a:r>
              <a:t>A predictive enemy</a:t>
            </a:r>
          </a:p>
          <a:p>
            <a:pPr>
              <a:lnSpc>
                <a:spcPct val="130000"/>
              </a:lnSpc>
              <a:spcAft>
                <a:spcPts val="0"/>
              </a:spcAft>
              <a:defRPr sz="1200" b="0">
                <a:solidFill>
                  <a:srgbClr val="2C3A44"/>
                </a:solidFill>
                <a:latin typeface="Segoe UI"/>
              </a:defRPr>
            </a:pPr>
            <a:r>
              <a:t>Right now it chases where you are. An enemy that paths to where you are heading could cut you off at a junction instead of trailing you.</a:t>
            </a:r>
          </a:p>
        </p:txBody>
      </p:sp>
      <p:sp>
        <p:nvSpPr>
          <p:cNvPr id="5" name="Rounded Rectangle 4"/>
          <p:cNvSpPr/>
          <p:nvPr/>
        </p:nvSpPr>
        <p:spPr>
          <a:xfrm>
            <a:off x="3486835" y="2514600"/>
            <a:ext cx="2508427" cy="2286000"/>
          </a:xfrm>
          <a:prstGeom prst="roundRect">
            <a:avLst>
              <a:gd name="adj" fmla="val 6000"/>
            </a:avLst>
          </a:prstGeom>
          <a:solidFill>
            <a:srgbClr val="EAF8FE"/>
          </a:solidFill>
          <a:ln w="12700">
            <a:solidFill>
              <a:srgbClr val="8FD9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742867" y="2743200"/>
            <a:ext cx="1996363" cy="1920240"/>
          </a:xfrm>
          <a:prstGeom prst="rect">
            <a:avLst/>
          </a:prstGeom>
          <a:noFill/>
        </p:spPr>
        <p:txBody>
          <a:bodyPr wrap="square" lIns="0" rIns="0" tIns="0" bIns="0">
            <a:spAutoFit/>
          </a:bodyPr>
          <a:lstStyle/>
          <a:p>
            <a:pPr>
              <a:spcAft>
                <a:spcPts val="700"/>
              </a:spcAft>
              <a:defRPr sz="1500" b="1">
                <a:solidFill>
                  <a:srgbClr val="121218"/>
                </a:solidFill>
                <a:latin typeface="Segoe UI"/>
              </a:defRPr>
            </a:pPr>
            <a:r>
              <a:t>Dijkstra with terrain</a:t>
            </a:r>
          </a:p>
          <a:p>
            <a:pPr>
              <a:lnSpc>
                <a:spcPct val="130000"/>
              </a:lnSpc>
              <a:spcAft>
                <a:spcPts val="0"/>
              </a:spcAft>
              <a:defRPr sz="1200" b="0">
                <a:solidFill>
                  <a:srgbClr val="2C3A44"/>
                </a:solidFill>
                <a:latin typeface="Segoe UI"/>
              </a:defRPr>
            </a:pPr>
            <a:r>
              <a:t>Mud cells costing 3 steps instead of 1, to show why BFS is really Dijkstra with every edge weighted the same.</a:t>
            </a:r>
          </a:p>
        </p:txBody>
      </p:sp>
      <p:sp>
        <p:nvSpPr>
          <p:cNvPr id="7" name="Rounded Rectangle 6"/>
          <p:cNvSpPr/>
          <p:nvPr/>
        </p:nvSpPr>
        <p:spPr>
          <a:xfrm>
            <a:off x="6196431" y="2514600"/>
            <a:ext cx="2508427" cy="2286000"/>
          </a:xfrm>
          <a:prstGeom prst="roundRect">
            <a:avLst>
              <a:gd name="adj" fmla="val 6000"/>
            </a:avLst>
          </a:prstGeom>
          <a:solidFill>
            <a:srgbClr val="EAF8FE"/>
          </a:solidFill>
          <a:ln w="12700">
            <a:solidFill>
              <a:srgbClr val="8FD9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52463" y="2743200"/>
            <a:ext cx="1996363" cy="1920240"/>
          </a:xfrm>
          <a:prstGeom prst="rect">
            <a:avLst/>
          </a:prstGeom>
          <a:noFill/>
        </p:spPr>
        <p:txBody>
          <a:bodyPr wrap="square" lIns="0" rIns="0" tIns="0" bIns="0">
            <a:spAutoFit/>
          </a:bodyPr>
          <a:lstStyle/>
          <a:p>
            <a:pPr>
              <a:spcAft>
                <a:spcPts val="700"/>
              </a:spcAft>
              <a:defRPr sz="1500" b="1">
                <a:solidFill>
                  <a:srgbClr val="121218"/>
                </a:solidFill>
                <a:latin typeface="Segoe UI"/>
              </a:defRPr>
            </a:pPr>
            <a:r>
              <a:t>A better heuristic</a:t>
            </a:r>
          </a:p>
          <a:p>
            <a:pPr>
              <a:lnSpc>
                <a:spcPct val="130000"/>
              </a:lnSpc>
              <a:spcAft>
                <a:spcPts val="0"/>
              </a:spcAft>
              <a:defRPr sz="1200" b="0">
                <a:solidFill>
                  <a:srgbClr val="2C3A44"/>
                </a:solidFill>
                <a:latin typeface="Segoe UI"/>
              </a:defRPr>
            </a:pPr>
            <a:r>
              <a:t>Manhattan distance is weak in a twisty maze. One that accounts for walls would widen A*'s lead — if it can be computed cheaply enough to pay for itself.</a:t>
            </a:r>
          </a:p>
        </p:txBody>
      </p:sp>
      <p:sp>
        <p:nvSpPr>
          <p:cNvPr id="9" name="Rounded Rectangle 8"/>
          <p:cNvSpPr/>
          <p:nvPr/>
        </p:nvSpPr>
        <p:spPr>
          <a:xfrm>
            <a:off x="8906027" y="2514600"/>
            <a:ext cx="2508427" cy="2286000"/>
          </a:xfrm>
          <a:prstGeom prst="roundRect">
            <a:avLst>
              <a:gd name="adj" fmla="val 6000"/>
            </a:avLst>
          </a:prstGeom>
          <a:solidFill>
            <a:srgbClr val="EAF8FE"/>
          </a:solidFill>
          <a:ln w="12700">
            <a:solidFill>
              <a:srgbClr val="8FD9F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62059" y="2743200"/>
            <a:ext cx="1996363" cy="1920240"/>
          </a:xfrm>
          <a:prstGeom prst="rect">
            <a:avLst/>
          </a:prstGeom>
          <a:noFill/>
        </p:spPr>
        <p:txBody>
          <a:bodyPr wrap="square" lIns="0" rIns="0" tIns="0" bIns="0">
            <a:spAutoFit/>
          </a:bodyPr>
          <a:lstStyle/>
          <a:p>
            <a:pPr>
              <a:spcAft>
                <a:spcPts val="700"/>
              </a:spcAft>
              <a:defRPr sz="1500" b="1">
                <a:solidFill>
                  <a:srgbClr val="121218"/>
                </a:solidFill>
                <a:latin typeface="Segoe UI"/>
              </a:defRPr>
            </a:pPr>
            <a:r>
              <a:t>Fog of war</a:t>
            </a:r>
          </a:p>
          <a:p>
            <a:pPr>
              <a:lnSpc>
                <a:spcPct val="130000"/>
              </a:lnSpc>
              <a:spcAft>
                <a:spcPts val="0"/>
              </a:spcAft>
              <a:defRPr sz="1200" b="0">
                <a:solidFill>
                  <a:srgbClr val="2C3A44"/>
                </a:solidFill>
                <a:latin typeface="Segoe UI"/>
              </a:defRPr>
            </a:pPr>
            <a:r>
              <a:t>Limit the player's vision radius, so the maze has to be learned rather than read off the screen in one glance.</a:t>
            </a:r>
          </a:p>
        </p:txBody>
      </p:sp>
      <p:sp>
        <p:nvSpPr>
          <p:cNvPr id="11" name="TextBox 10"/>
          <p:cNvSpPr txBox="1"/>
          <p:nvPr/>
        </p:nvSpPr>
        <p:spPr>
          <a:xfrm>
            <a:off x="777240" y="5349240"/>
            <a:ext cx="10637215" cy="548640"/>
          </a:xfrm>
          <a:prstGeom prst="rect">
            <a:avLst/>
          </a:prstGeom>
          <a:noFill/>
        </p:spPr>
        <p:txBody>
          <a:bodyPr wrap="square" lIns="0" rIns="0" tIns="0" bIns="0">
            <a:spAutoFit/>
          </a:bodyPr>
          <a:lstStyle/>
          <a:p>
            <a:pPr>
              <a:spcAft>
                <a:spcPts val="600"/>
              </a:spcAft>
              <a:defRPr sz="1600" b="1">
                <a:solidFill>
                  <a:srgbClr val="121218"/>
                </a:solidFill>
                <a:latin typeface="Consolas"/>
              </a:defRPr>
            </a:pPr>
            <a:r>
              <a:t>github.com/Hyperval/maze-runner</a:t>
            </a:r>
          </a:p>
          <a:p>
            <a:pPr>
              <a:spcAft>
                <a:spcPts val="0"/>
              </a:spcAft>
              <a:defRPr sz="1600" b="0">
                <a:solidFill>
                  <a:srgbClr val="15506B"/>
                </a:solidFill>
                <a:latin typeface="Segoe UI"/>
              </a:defRPr>
            </a:pPr>
            <a:r>
              <a:t>Thank you — questions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